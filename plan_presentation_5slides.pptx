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Thesis: Evaluation of RPCA-enhanced Diffeomorphic Registration</a:t>
            </a:r>
          </a:p>
          <a:p>
            <a:r>
              <a:t>for Cardiac Cine MRI Motion Tracking</a:t>
            </a:r>
          </a:p>
          <a:p/>
          <a:p>
            <a:r>
              <a:t>Focus: Evaluation innovation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Cardiac motion tracking needs accurate and temporally consistent registration.</a:t>
            </a:r>
          </a:p>
          <a:p>
            <a:pPr>
              <a:defRPr sz="2400"/>
            </a:pPr>
            <a:r>
              <a:t>Existing reports often rely on limited metrics (e.g., Dice only).</a:t>
            </a:r>
          </a:p>
          <a:p>
            <a:pPr>
              <a:defRPr sz="2400"/>
            </a:pPr>
            <a:r>
              <a:t>Aim 1: Build a multi-dimensional metric framework.</a:t>
            </a:r>
          </a:p>
          <a:p>
            <a:pPr>
              <a:defRPr sz="2400"/>
            </a:pPr>
            <a:r>
              <a:t>Aim 2: Perform paired statistical significance testing.</a:t>
            </a:r>
          </a:p>
          <a:p>
            <a:pPr>
              <a:defRPr sz="2400"/>
            </a:pPr>
            <a:r>
              <a:t>Aim 3: Conclude whether DiffIR+RPCA truly outperforms DiffIR.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Dataset: ACDC (primary).</a:t>
            </a:r>
          </a:p>
          <a:p>
            <a:pPr>
              <a:defRPr sz="2400"/>
            </a:pPr>
            <a:r>
              <a:t>Evaluation settings: pairwise and groupwise registration.</a:t>
            </a:r>
          </a:p>
          <a:p>
            <a:pPr>
              <a:defRPr sz="2400"/>
            </a:pPr>
            <a:r>
              <a:t>Preprocessing: resampling, normalization, ROI cropping.</a:t>
            </a:r>
          </a:p>
          <a:p>
            <a:pPr>
              <a:defRPr sz="2400"/>
            </a:pPr>
            <a:r>
              <a:t>Split strategy: patient-level split to avoid data leakage.</a:t>
            </a:r>
          </a:p>
          <a:p>
            <a:pPr>
              <a:defRPr sz="2400"/>
            </a:pPr>
            <a:r>
              <a:t>Methods compared:</a:t>
            </a:r>
          </a:p>
          <a:p>
            <a:pPr lvl="1">
              <a:defRPr sz="2000"/>
            </a:pPr>
            <a:r>
              <a:t>Baseline: DiffIR</a:t>
            </a:r>
          </a:p>
          <a:p>
            <a:pPr lvl="1">
              <a:defRPr sz="2000"/>
            </a:pPr>
            <a:r>
              <a:t>Proposed: DiffIR + RPCA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Plan: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Multi-dimensional metrics:</a:t>
            </a:r>
          </a:p>
          <a:p>
            <a:pPr lvl="1">
              <a:defRPr sz="2000"/>
            </a:pPr>
            <a:r>
              <a:t>Accuracy: Dice, HD95, ASSD</a:t>
            </a:r>
          </a:p>
          <a:p>
            <a:pPr lvl="1">
              <a:defRPr sz="2000"/>
            </a:pPr>
            <a:r>
              <a:t>Topology: folding ratio (% detJ &lt;= 0)</a:t>
            </a:r>
          </a:p>
          <a:p>
            <a:pPr lvl="1">
              <a:defRPr sz="2000"/>
            </a:pPr>
            <a:r>
              <a:t>Temporal consistency: frame-to-frame deformation smoothness</a:t>
            </a:r>
          </a:p>
          <a:p>
            <a:pPr lvl="1">
              <a:defRPr sz="2000"/>
            </a:pPr>
            <a:r>
              <a:t>Low-rank behavior: rank(L) / effective rank</a:t>
            </a:r>
          </a:p>
          <a:p>
            <a:pPr lvl="1">
              <a:defRPr sz="2000"/>
            </a:pPr>
            <a:r>
              <a:t>Efficiency: runtime</a:t>
            </a:r>
          </a:p>
          <a:p>
            <a:pPr>
              <a:defRPr sz="2400"/>
            </a:pPr>
            <a:r>
              <a:t>Statistical validation:</a:t>
            </a:r>
          </a:p>
          <a:p>
            <a:pPr lvl="1">
              <a:defRPr sz="2000"/>
            </a:pPr>
            <a:r>
              <a:t>Paired patient-wise comparison</a:t>
            </a:r>
          </a:p>
          <a:p>
            <a:pPr lvl="1">
              <a:defRPr sz="2000"/>
            </a:pPr>
            <a:r>
              <a:t>Wilcoxon signed-rank (or paired t-test)</a:t>
            </a:r>
          </a:p>
          <a:p>
            <a:pPr lvl="1">
              <a:defRPr sz="2000"/>
            </a:pPr>
            <a:r>
              <a:t>Report p-value + effect size + 95% CI</a:t>
            </a:r>
          </a:p>
          <a:p>
            <a:pPr lvl="1">
              <a:defRPr sz="2000"/>
            </a:pPr>
            <a:r>
              <a:t>Holm-Bonferroni correction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Challenges, Timeline, 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Challenges: computational cost, parameter sensitivity, limited frame labels.</a:t>
            </a:r>
          </a:p>
          <a:p>
            <a:pPr>
              <a:defRPr sz="2400"/>
            </a:pPr>
            <a:r>
              <a:t>Timeline (milestones): M1 data pipeline -&gt; M2 unified runs -&gt; M3 metrics -&gt; M4 statistics -&gt; M5 thesis writing.</a:t>
            </a:r>
          </a:p>
          <a:p>
            <a:pPr>
              <a:defRPr sz="2400"/>
            </a:pPr>
            <a:r>
              <a:t>Expected outcome: a reproducible and statistically grounded conclusion on RPCA benefit.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